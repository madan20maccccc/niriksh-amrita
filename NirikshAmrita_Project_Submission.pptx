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108173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DB2777"/>
                </a:solidFill>
                <a:latin typeface="Georgia"/>
              </a:defRPr>
            </a:pPr>
            <a:r>
              <a:t>NirikshAmrita</a:t>
            </a:r>
          </a:p>
          <a:p>
            <a:pPr>
              <a:spcBef>
                <a:spcPts val="1200"/>
              </a:spcBef>
              <a:defRPr sz="2000" b="0">
                <a:solidFill>
                  <a:srgbClr val="1E293B"/>
                </a:solidFill>
                <a:latin typeface="Arial"/>
              </a:defRPr>
            </a:pPr>
            <a:r>
              <a:t>Agentic Shift Handover &amp; Clinical Early Warning Surveillance Platform</a:t>
            </a:r>
          </a:p>
          <a:p>
            <a:pPr>
              <a:spcBef>
                <a:spcPts val="800"/>
              </a:spcBef>
              <a:defRPr sz="1400" b="0">
                <a:solidFill>
                  <a:srgbClr val="64748B"/>
                </a:solidFill>
                <a:latin typeface="Arial"/>
              </a:defRPr>
            </a:pPr>
            <a:r>
              <a:t>Designed for Patient Safety and Escalation at Amrita Hospital, Faridabad</a:t>
            </a:r>
          </a:p>
          <a:p>
            <a:pPr>
              <a:spcBef>
                <a:spcPts val="45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Team Members: Madan.M, Anna Clara Mathew, K.L.C Aditya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CORE PROBLEM</a:t>
            </a:r>
          </a:p>
          <a:p>
            <a:pPr>
              <a:spcBef>
                <a:spcPts val="300"/>
              </a:spcBef>
              <a:defRPr sz="2600" b="1">
                <a:solidFill>
                  <a:srgbClr val="1E293B"/>
                </a:solidFill>
                <a:latin typeface="Georgia"/>
              </a:defRPr>
            </a:pPr>
            <a:r>
              <a:t>Clinical Context &amp; Patient Safety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Dangers of Gradual Physiological Deterioration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In hospital wards, patients rarely deteriorate suddenly. Their vitals (respiratory rate, SpO2, blood pressure) decline gradually across shifts. Standard tracking fails to flag these trends.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Shift Handover Vulnerability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During nurse shift rotations, patient information is often handed over in a fragmented, rushed, or unstandardized manner, leading to missed warnings.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Oversight &amp; Alarm Fatigue Guidelines (WHO &amp; Joint Commission)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WHO's Patient Safety Action Plan 2021-2030 and Joint Commission alerts state that medical warnings must be prioritized, actionable, and auditable, rather than just generating noisy alarms.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AGENTIC PHILOSOPHY</a:t>
            </a:r>
          </a:p>
          <a:p>
            <a:pPr>
              <a:spcBef>
                <a:spcPts val="300"/>
              </a:spcBef>
              <a:defRPr sz="2600" b="1">
                <a:solidFill>
                  <a:srgbClr val="1E293B"/>
                </a:solidFill>
                <a:latin typeface="Georgia"/>
              </a:defRPr>
            </a:pPr>
            <a:r>
              <a:t>Why We Need Agentic AI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Passive Dashboards vs. Active Surveillance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Normal dashboards only list numbers. An agentic system actively monitors vitals, calculates Early Warning Scores (NEWS2), and takes ownership of alert closures.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Escalation Closure Tracking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The Escalation Agent checks if alerts are acknowledged. If no action is logged within defined time windows (e.g. 15 minutes), alerts are escalated to higher supervisors.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Clinical Accountability Audit Logs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Every nurse action, alert acknowledgment, response latency, and escalation path is logged to a secure audit database to improve ward operations and legal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TECHNOLOGY STACK</a:t>
            </a:r>
          </a:p>
          <a:p>
            <a:pPr>
              <a:spcBef>
                <a:spcPts val="300"/>
              </a:spcBef>
              <a:defRPr sz="2600" b="1">
                <a:solidFill>
                  <a:srgbClr val="1E293B"/>
                </a:solidFill>
                <a:latin typeface="Georgia"/>
              </a:defRPr>
            </a:pPr>
            <a:r>
              <a:t>Project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Frontend Framework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Vite + React 19 + TanStack Start (for high-speed hydration) + TailwindCSS for premium styling.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Backend Core engine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FastAPI (Python 3.10) + SQLAlchemy ORM + SQLite database.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AI &amp; Language Intelligence Layer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Google Gemini API (using gemini-2.5-flash for OCR, handovers, and translation).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Real-time surveillance Pipeline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WebSockets for live telemetry broadcast and audio alert syncing.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DESIGN RATIONALE</a:t>
            </a:r>
          </a:p>
          <a:p>
            <a:pPr>
              <a:spcBef>
                <a:spcPts val="300"/>
              </a:spcBef>
              <a:defRPr sz="2600" b="1">
                <a:solidFill>
                  <a:srgbClr val="1E293B"/>
                </a:solidFill>
                <a:latin typeface="Georgia"/>
              </a:defRPr>
            </a:pPr>
            <a:r>
              <a:t>Why We Selected This 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FastAPI for Concurrency &amp; Speed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FastAPI offers asynchronous concurrency out of the box, letting the backend handle live telemetry streams, validation, and Gemini calls simultaneously with sub-second latency.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React &amp; TanStack for Dynamic Clinical Views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Clinical views must never lag. React's state management coupled with TanStack's cache-hydration speeds up navigation between patient telemetry grids.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Gemini 2.5 Flash for Multimodal Vision &amp; Translation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Gemini 2.5 Flash is selected for its high speed, low cost, and ability to handle both multimodal images (telemetry OCR) and multi-language translation (SBAR handovers).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SQLite for Low-Overhead Local Storage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SQLite handles transactional clinical entries without requiring external server dependencies during hospital presentations.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DEVELOPMENT STAGE 1</a:t>
            </a:r>
          </a:p>
          <a:p>
            <a:pPr>
              <a:spcBef>
                <a:spcPts val="300"/>
              </a:spcBef>
              <a:defRPr sz="2600" b="1">
                <a:solidFill>
                  <a:srgbClr val="1E293B"/>
                </a:solidFill>
                <a:latin typeface="Georgia"/>
              </a:defRPr>
            </a:pPr>
            <a:r>
              <a:t>Stage 1: Core Database, API &amp; NEWS2 Ingest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Database Schemas &amp; ORM Setup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Initialize SQLAlchemy tables (Patient, VitalRecord, NEWS2Score). Set up patient profiles with clinical flags (COPD, diabetes, hypertension).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NEWS2 Calculator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Calculate Early Warning Scores instantly as vitals are inputted. Dynamically adjust parameters if the patient has a diagnosed COPD history.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Clinical Typo Validation Agent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A rules-based validation agent checks input ranges (e.g. catching BP entered as 800/60) to keep the database clean and safe.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DEVELOPMENT STAGE 2</a:t>
            </a:r>
          </a:p>
          <a:p>
            <a:pPr>
              <a:spcBef>
                <a:spcPts val="300"/>
              </a:spcBef>
              <a:defRPr sz="2600" b="1">
                <a:solidFill>
                  <a:srgbClr val="1E293B"/>
                </a:solidFill>
                <a:latin typeface="Georgia"/>
              </a:defRPr>
            </a:pPr>
            <a:r>
              <a:t>Stage 2: Gemini Multimodal Telemetry OCR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ICU Monitor Screen Reader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Using gemini-2.5-flash to read screenshots of bedside telemetry monitors, extracting BP, HR, SpO2, RR, and temperature values.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Eliminating Hardware Integration Hurdles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Instead of writing expensive, device-specific drivers, nurses can capture or upload a photo to populate the database.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Visual Scanner Overlay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Includes a mock laser scanning animation with a progress loader to show the flow clearly during presentations.</a:t>
            </a:r>
          </a:p>
        </p:txBody>
      </p:sp>
      <p:pic>
        <p:nvPicPr>
          <p:cNvPr id="4" name="Picture 3" descr="niriksh_vitals_ocr_mockup_17840888436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55955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DEVELOPMENT STAGE 3</a:t>
            </a:r>
          </a:p>
          <a:p>
            <a:pPr>
              <a:spcBef>
                <a:spcPts val="300"/>
              </a:spcBef>
              <a:defRPr sz="2600" b="1">
                <a:solidFill>
                  <a:srgbClr val="1E293B"/>
                </a:solidFill>
                <a:latin typeface="Georgia"/>
              </a:defRPr>
            </a:pPr>
            <a:r>
              <a:t>Stage 3: Trend Reasoning &amp; SBAR Handover Summaries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Cross-Shift Trend Calculations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Calculates changes across the last 6 rounding entries (e.g. SBP drops &gt;10% or HR increases over 3 consecutive shifts).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Auto-Generated SBAR Handover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Feeds vital trends and context to Gemini to generate Situation, Background, Assessment, and Recommendation reports.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Telemetry Line Graphs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Renders historical vital parameters (BP, HR, SpO2, Glucose) in clean, interactive line charts.</a:t>
            </a:r>
          </a:p>
        </p:txBody>
      </p:sp>
      <p:pic>
        <p:nvPicPr>
          <p:cNvPr id="4" name="Picture 3" descr="niriksh_sbar_handover_mockup_17840888797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55955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DEVELOPMENT STAGE 4</a:t>
            </a:r>
          </a:p>
          <a:p>
            <a:pPr>
              <a:spcBef>
                <a:spcPts val="300"/>
              </a:spcBef>
              <a:defRPr sz="2600" b="1">
                <a:solidFill>
                  <a:srgbClr val="1E293B"/>
                </a:solidFill>
                <a:latin typeface="Georgia"/>
              </a:defRPr>
            </a:pPr>
            <a:r>
              <a:t>Stage 4: Outbound WhatsApp Alerts &amp;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Direct Out-of-App Warning Gateway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Sends WhatsApp alerts directly to the duty doctor's phone when a patient's NEWS2 score indicates orange or red risk.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Actionable SLA Closure Protocols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The escalation runner alerts the supervisor if the ward nurse does not acknowledge a red alert within 15 minutes.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On-Screen Smartphone Mockup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Features a floating iPhone mockup that simulates the WhatsApp chat and lock-screen alerts the doctor receives.</a:t>
            </a:r>
          </a:p>
        </p:txBody>
      </p:sp>
      <p:pic>
        <p:nvPicPr>
          <p:cNvPr id="4" name="Picture 3" descr="niriksh_whatsapp_alert_mockup_1784088860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55955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DEVELOPMENT STAGE 5</a:t>
            </a:r>
          </a:p>
          <a:p>
            <a:pPr>
              <a:spcBef>
                <a:spcPts val="300"/>
              </a:spcBef>
              <a:defRPr sz="2600" b="1">
                <a:solidFill>
                  <a:srgbClr val="1E293B"/>
                </a:solidFill>
                <a:latin typeface="Georgia"/>
              </a:defRPr>
            </a:pPr>
            <a:r>
              <a:t>Stage 5: Ward Risk Heatmap &amp;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Ward-Level Risk Prioritization Heatmap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Displays a grid of all beds colored by their active NEWS2 risk level (Red, Orange, Yellow, Green), giving supervisors a bird's-eye view.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Oversight Tooltip Cards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Hovering over a bed cell opens a small tooltip showing the patient's name, active warning description, and last actions taken.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Command Center Metrics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Tracks average acknowledgment time, active alerts, occupancy logs, and rosters to monitor clinical workflow efficiency.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SAFETY &amp; INNOVATIONS</a:t>
            </a:r>
          </a:p>
          <a:p>
            <a:pPr>
              <a:spcBef>
                <a:spcPts val="300"/>
              </a:spcBef>
              <a:defRPr sz="2600" b="1">
                <a:solidFill>
                  <a:srgbClr val="1E293B"/>
                </a:solidFill>
                <a:latin typeface="Georgia"/>
              </a:defRPr>
            </a:pPr>
            <a:r>
              <a:t>Extra Clinical Innovations &amp; Safety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Malayalam &amp; Telugu SBAR Translation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Permits shift-handover summaries to be translated into regional languages in real-time, removing communication barriers.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Clinical RAG Assistant Chatbot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A patient-specific chatbot widget that allows nurses to query historical records, trends, and warning rationales.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Deterioration Projections (AI Predictions)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Uses regression modeling on vitals history to forecast boundaries breaches and alert nurses before they occur.</a:t>
            </a:r>
          </a:p>
          <a:p>
            <a:pPr>
              <a:spcBef>
                <a:spcPts val="1000"/>
              </a:spcBef>
              <a:defRPr sz="1500" b="1">
                <a:solidFill>
                  <a:srgbClr val="DB2777"/>
                </a:solidFill>
                <a:latin typeface="Arial"/>
              </a:defRPr>
            </a:pPr>
            <a:r>
              <a:t>Presentation Demonstration Mode</a:t>
            </a:r>
          </a:p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• A toggle switch that runs the OCR scanner, populates abnormal values, and triggers the WhatsApp overlay, simplifying live presentations.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