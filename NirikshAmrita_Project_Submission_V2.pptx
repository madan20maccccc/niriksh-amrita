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0"/>
            <a:ext cx="108173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DB2777"/>
                </a:solidFill>
                <a:latin typeface="Georgia"/>
              </a:defRPr>
            </a:pPr>
            <a:r>
              <a:t>NirikshAmrita</a:t>
            </a:r>
          </a:p>
          <a:p>
            <a:pPr>
              <a:spcBef>
                <a:spcPts val="1200"/>
              </a:spcBef>
              <a:defRPr sz="2000" b="0">
                <a:solidFill>
                  <a:srgbClr val="1E293B"/>
                </a:solidFill>
                <a:latin typeface="Arial"/>
              </a:defRPr>
            </a:pPr>
            <a:r>
              <a:t>Agentic Shift Handover &amp; Clinical Early Warning Surveillance Platform</a:t>
            </a:r>
          </a:p>
          <a:p>
            <a:pPr>
              <a:spcBef>
                <a:spcPts val="800"/>
              </a:spcBef>
              <a:defRPr sz="1400" b="0">
                <a:solidFill>
                  <a:srgbClr val="64748B"/>
                </a:solidFill>
                <a:latin typeface="Arial"/>
              </a:defRPr>
            </a:pPr>
            <a:r>
              <a:t>Designed for Patient Safety and Escalation at Amrita Hospital, Faridabad</a:t>
            </a:r>
          </a:p>
          <a:p>
            <a:pPr>
              <a:spcBef>
                <a:spcPts val="45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Team Members: Madan.M, Anna Clara Mathew, K.L.C Aditya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00" b="1">
                <a:solidFill>
                  <a:srgbClr val="DB2777"/>
                </a:solidFill>
                <a:latin typeface="Arial"/>
              </a:defRPr>
            </a:pPr>
            <a:r>
              <a:t>CLINICAL PROBLEM STATEMENT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  <a:latin typeface="Georgia"/>
              </a:defRPr>
            </a:pPr>
            <a:r>
              <a:t>Clinical Surveillance Limitations &amp; Shift Handovers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Physiological Deterioration Latency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In acute care settings, patients undergo gradual, multi-parameter physiological decline rather than sudden onset decompensation. Isolated point-in-time checks fail to capture progressive decline across shifts.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Information Fragmentation During Rotations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Ward handovers are statistically high-risk windows for information loss. Critical parameters (e.g. oxygen desaturation, rising glucose) are often poorly communicated or missed.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Alarm Fatigue &amp; Clinical Prioritization (Joint Commission Compliance)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Standard clinical dashboards generate noisy, unprioritized alerts, causing cognitive overload for ward nurses. Systems must deliver explainable, prioritized warnings to prevent alarm desensitization.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00" b="1">
                <a:solidFill>
                  <a:srgbClr val="DB2777"/>
                </a:solidFill>
                <a:latin typeface="Arial"/>
              </a:defRPr>
            </a:pPr>
            <a:r>
              <a:t>CLINICAL SAFETY FLOWCHART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  <a:latin typeface="Georgia"/>
              </a:defRPr>
            </a:pPr>
            <a:r>
              <a:t>NirikshAmrita Agentic Workflow Process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011680"/>
            <a:ext cx="1737360" cy="1280160"/>
          </a:xfrm>
          <a:prstGeom prst="round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Step 1</a:t>
            </a:r>
            <a:br/>
            <a:r>
              <a:t>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rial"/>
              </a:defRPr>
            </a:pPr>
            <a:r>
              <a:t>OCR camera scan reads bedside monitor digit values.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14600" y="2514600"/>
            <a:ext cx="274320" cy="27432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80360" y="2011680"/>
            <a:ext cx="1737360" cy="1280160"/>
          </a:xfrm>
          <a:prstGeom prst="round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Step 2</a:t>
            </a:r>
            <a:br/>
            <a:r>
              <a:t>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47472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rial"/>
              </a:defRPr>
            </a:pPr>
            <a:r>
              <a:t>Typo filtering agent checks parameters ranges.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09160" y="2514600"/>
            <a:ext cx="274320" cy="27432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74920" y="2011680"/>
            <a:ext cx="1737360" cy="1280160"/>
          </a:xfrm>
          <a:prstGeom prst="round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Step 3</a:t>
            </a:r>
            <a:br/>
            <a:r>
              <a:t>NEWS2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47472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rial"/>
              </a:defRPr>
            </a:pPr>
            <a:r>
              <a:t>EWS agent computes clinical risks score.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03720" y="2514600"/>
            <a:ext cx="274320" cy="27432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69479" y="2011680"/>
            <a:ext cx="1737360" cy="1280160"/>
          </a:xfrm>
          <a:prstGeom prst="round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Step 4</a:t>
            </a:r>
            <a:br/>
            <a:r>
              <a:t>Escalation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19" y="347472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rial"/>
              </a:defRPr>
            </a:pPr>
            <a:r>
              <a:t>Bypasses client to alert Dr. Ramesh on WhatsApp.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098279" y="2514600"/>
            <a:ext cx="274320" cy="27432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64040" y="2011680"/>
            <a:ext cx="1737360" cy="1280160"/>
          </a:xfrm>
          <a:prstGeom prst="roundRect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Step 5</a:t>
            </a:r>
            <a:br/>
            <a:r>
              <a:t>Handover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47472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rial"/>
              </a:defRPr>
            </a:pPr>
            <a:r>
              <a:t>AI generates SBAR note translated in Malayalam.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00" b="1">
                <a:solidFill>
                  <a:srgbClr val="DB2777"/>
                </a:solidFill>
                <a:latin typeface="Arial"/>
              </a:defRPr>
            </a:pPr>
            <a:r>
              <a:t>AGENTIC DESIGN PHILOSOPHY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  <a:latin typeface="Georgia"/>
              </a:defRPr>
            </a:pPr>
            <a:r>
              <a:t>The Paradigm Shift: Passive Dashboards vs. Agentic Surveillance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Active Task Ownership &amp; Closure Tracking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Conventional systems rely entirely on user observation. An agentic system actively calculates early warning scores (NEWS2) and tracks alert acknowledgment until closure.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Escalation SLAs &amp; Resource Routing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Integrates active escalation loops. If a nurse fails to acknowledge a critical flag within a set time (e.g., 15 minutes), the system escalates the warning to supervisors.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Explainable Audit Trails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Maintains legally auditable logs of response times, actions taken, and escalation paths, providing hospital quality assurance boards with complete visibility.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00" b="1">
                <a:solidFill>
                  <a:srgbClr val="DB2777"/>
                </a:solidFill>
                <a:latin typeface="Arial"/>
              </a:defRPr>
            </a:pPr>
            <a:r>
              <a:t>TECHNICAL STACK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  <a:latin typeface="Georgia"/>
              </a:defRPr>
            </a:pPr>
            <a:r>
              <a:t>System Technical Stack &amp; Core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Frontend Layer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React 19, Vite, TanStack Start (for fast server-side hydration), TailwindCSS for custom glassmorphism styles, and Recharts for physiological trend lines.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Backend &amp; Ingestion APIs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FastAPI (Python 3.10) for async concurrency, SQLite for transactional database records, and SQLAlchemy Object-Relational Mapping (ORM).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AI Inference Layer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Google Gemini API (using gemini-2.5-flash for vision parsing, handover summaries, and translation).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Surveillance Protocols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WebSockets for real-time telemetry broadcasts and audio alert synchronization.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00" b="1">
                <a:solidFill>
                  <a:srgbClr val="DB2777"/>
                </a:solidFill>
                <a:latin typeface="Arial"/>
              </a:defRPr>
            </a:pPr>
            <a:r>
              <a:t>SYSTEM RATIONALE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  <a:latin typeface="Georgia"/>
              </a:defRPr>
            </a:pPr>
            <a:r>
              <a:t>Technical Rationale &amp; Architectural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Asynchronous Processing (FastAPI)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Enables high-concurrency ingestion of telemetry payloads without blocking computational agents. Async I/O prevents server lag when querying databases or external APIs.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Optimistic State Synchronization (React &amp; TanStack)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Ensures clinical dashboards maintain absolute synchronicity with backend state changes, providing nurses with real-time updates without interface delays.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Multimodal Cognition (Gemini 2.5 Flash)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Selected for its low-latency image tokenization and contextual reasoning, powering real-time digitization of monitor screens and multilingual translation layers.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ACID-Compliant Local Storage (SQLite &amp; SQLAlchemy)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Provides secure, transactional database records with low overhead, ensuring reliable local deployments during clinical simulations.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00" b="1">
                <a:solidFill>
                  <a:srgbClr val="DB2777"/>
                </a:solidFill>
                <a:latin typeface="Arial"/>
              </a:defRPr>
            </a:pPr>
            <a:r>
              <a:t>STAGE 1 CORE INGESTION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  <a:latin typeface="Georgia"/>
              </a:defRPr>
            </a:pPr>
            <a:r>
              <a:t>Stage 1: Core Database, Ingestion API &amp; NEWS2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Clinical Data Models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Define patient profiles with specific comorbidity flags (COPD, diabetes, hypertension) to customize warning thresholds.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NEWS2 Calculator Agent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Calculates clinical risk scores instantly upon vital entry. Dynamically adapts scoring ranges if the patient has a diagnosed COPD history.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Physiological Range Validation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Validation scripts filter out entry errors (e.g. BP entered as 800/60) before saving records, keeping database logs clean and accurate.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00" b="1">
                <a:solidFill>
                  <a:srgbClr val="DB2777"/>
                </a:solidFill>
                <a:latin typeface="Arial"/>
              </a:defRPr>
            </a:pPr>
            <a:r>
              <a:t>STAGE 2 VISION INGESTION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  <a:latin typeface="Georgia"/>
              </a:defRPr>
            </a:pPr>
            <a:r>
              <a:t>Stage 2: Gemini Multimodal Telemetry OCR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Vision OCR Ingestion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Sends bedside monitor photos directly to gemini-2.5-flash to extract heart rate, blood pressure, SpO2, RR, and temperature values.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Low-Cost Telemetry Parsing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Bypasses complex physical hardware integration by letting nurses scan the monitor screen directly to populate the forms.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Scanning UI Components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Features a scanning line animation and a progress loader to show the ingestion status clearly.</a:t>
            </a:r>
          </a:p>
        </p:txBody>
      </p:sp>
      <p:pic>
        <p:nvPicPr>
          <p:cNvPr id="4" name="Picture 3" descr="niriksh_vitals_ocr_mockup_17840888436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55955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00" b="1">
                <a:solidFill>
                  <a:srgbClr val="DB2777"/>
                </a:solidFill>
                <a:latin typeface="Arial"/>
              </a:defRPr>
            </a:pPr>
            <a:r>
              <a:t>STAGE 3 CLINICAL REASONING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  <a:latin typeface="Georgia"/>
              </a:defRPr>
            </a:pPr>
            <a:r>
              <a:t>Stage 3: Cross-Shift Trend Reasoning &amp; SBAR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Shift-Wise Trend Calculations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Analyzes the last 6 vital entries to identify gradual patient deterioration (e.g. SBP drops &gt;10% or HR increases over 3 consecutive shifts).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AI-Generated SBAR Summaries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Processes patient history and trend data to write structured Situation, Background, Assessment, and Recommendation reports.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Dynamic Line Graphs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Renders historical parameter records (pulse, blood pressure, SpO2) in clean Recharts line charts.</a:t>
            </a:r>
          </a:p>
        </p:txBody>
      </p:sp>
      <p:pic>
        <p:nvPicPr>
          <p:cNvPr id="4" name="Picture 3" descr="niriksh_sbar_handover_mockup_17840888797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55955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00" b="1">
                <a:solidFill>
                  <a:srgbClr val="DB2777"/>
                </a:solidFill>
                <a:latin typeface="Arial"/>
              </a:defRPr>
            </a:pPr>
            <a:r>
              <a:t>STAGE 4 ACTION &amp; ALERTING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  <a:latin typeface="Georgia"/>
              </a:defRPr>
            </a:pPr>
            <a:r>
              <a:t>Stage 4: Outbound WhatsApp Alerts &amp;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Out-of-App Warning Gateway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Sends WhatsApp alerts directly to the duty doctor's phone when a patient's NEWS2 score indicates orange or red risk.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Actionable SLA Closure Protocols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Alerts escalate to supervisors if the ward nurse does not acknowledge a red alert within 15 minutes.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On-Screen Smartphone Mockup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Features a floating iPhone mockup that simulates the WhatsApp chat and lock-screen alerts the doctor receives.</a:t>
            </a:r>
          </a:p>
        </p:txBody>
      </p:sp>
      <p:pic>
        <p:nvPicPr>
          <p:cNvPr id="4" name="Picture 3" descr="niriksh_whatsapp_alert_mockup_17840888602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55955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00" b="1">
                <a:solidFill>
                  <a:srgbClr val="DB2777"/>
                </a:solidFill>
                <a:latin typeface="Arial"/>
              </a:defRPr>
            </a:pPr>
            <a:r>
              <a:t>STAGE 5 OVERSIGHT COMMAND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  <a:latin typeface="Georgia"/>
              </a:defRPr>
            </a:pPr>
            <a:r>
              <a:t>Stage 5: Ward Risk Heatmap &amp; Command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Ward-Level Risk Heatmap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Displays a grid of all beds colored by their active NEWS2 risk level (Red, Orange, Yellow, Green), giving supervisors a bird's-eye view.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Interactive Tooltip Cards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Hovering over a bed cell opens a small tooltip showing the patient's name, active warning description, and last actions taken.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Surveillance Analytics Metrics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Tracks average acknowledgment time, active alerts, occupancy logs, and rosters to monitor clinical workflow efficiency.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10972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900" b="1">
                <a:solidFill>
                  <a:srgbClr val="DB2777"/>
                </a:solidFill>
                <a:latin typeface="Arial"/>
              </a:defRPr>
            </a:pPr>
            <a:r>
              <a:t>CLINICAL INNOVATIONS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  <a:latin typeface="Georgia"/>
              </a:defRPr>
            </a:pPr>
            <a:r>
              <a:t>Integrated System Innovations &amp; Safety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Malayalam &amp; Telugu SBAR Translation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Permits shift-handover summaries to be translated into regional languages in real-time, removing communication barriers.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Clinical RAG Assistant Chatbot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A patient-specific chatbot widget that allows nurses to query historical records, trends, and warning rationales.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Deterioration Projections (AI Predictions)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Uses regression modeling on vitals history to forecast boundaries breaches and alert nurses before they occur.</a:t>
            </a:r>
          </a:p>
          <a:p>
            <a:pPr>
              <a:spcBef>
                <a:spcPts val="800"/>
              </a:spcBef>
              <a:defRPr sz="1400" b="1">
                <a:solidFill>
                  <a:srgbClr val="DB2777"/>
                </a:solidFill>
                <a:latin typeface="Arial"/>
              </a:defRPr>
            </a:pPr>
            <a:r>
              <a:t>Presentation Demonstration Mode</a:t>
            </a:r>
          </a:p>
          <a:p>
            <a:pPr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A toggle switch that runs the OCR scanner, populates abnormal values, and triggers the WhatsApp overlay, simplifying live presentations.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